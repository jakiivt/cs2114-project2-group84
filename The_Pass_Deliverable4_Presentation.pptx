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861F41"/>
                </a:solidFill>
                <a:latin typeface="Segoe UI"/>
              </a:defRPr>
            </a:pPr>
            <a:r>
              <a:t>CS 2114: SOFTWARE DESIGN &amp; DATA STRUCTURES  |  DELIVERABLE 4</a:t>
            </a:r>
          </a:p>
          <a:p>
            <a:pPr>
              <a:spcAft>
                <a:spcPts val="800"/>
              </a:spcAft>
              <a:defRPr sz="4000" b="1">
                <a:solidFill>
                  <a:srgbClr val="1E293B"/>
                </a:solidFill>
                <a:latin typeface="Segoe UI"/>
              </a:defRPr>
            </a:pPr>
            <a:r>
              <a:t>The Pass: Building for Reuse</a:t>
            </a:r>
          </a:p>
          <a:p>
            <a:pPr>
              <a:defRPr sz="1700">
                <a:solidFill>
                  <a:srgbClr val="64748B"/>
                </a:solidFill>
                <a:latin typeface="Segoe UI"/>
              </a:defRPr>
            </a:pPr>
            <a:r>
              <a:t>A defensible, generic linked architecture for restaurant order management and kitchen dispatch.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49377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Project Team — Group 84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Abigail  — System Architecture, Diagrams &amp; Quality Review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Bryan    — Validation Design, Drink Orders &amp; Test Plan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Jack     — Data Invariants, Complexity &amp; Storage Contracts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Talal    — API Architecture, Stretch Goal &amp; Centralization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474720"/>
            <a:ext cx="50292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7722"/>
                </a:solidFill>
                <a:latin typeface="Segoe UI"/>
              </a:defRPr>
            </a:pPr>
            <a:r>
              <a:t>Public GitHub Repository</a:t>
            </a:r>
          </a:p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  <a:latin typeface="Consolas"/>
              </a:defRPr>
            </a:pPr>
            <a:r>
              <a:t>https://github.com/Talal288/cs2114-project2-group84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✔ Publicly accessible in private browsing</a:t>
            </a:r>
            <a:br/>
            <a:r>
              <a:t>✔ Complete source code and 104 passing JUnit tests</a:t>
            </a:r>
            <a:br/>
            <a:r>
              <a:t>✔ Comprehensive README with attribution and run steps</a:t>
            </a:r>
            <a:br/>
            <a:r>
              <a:t>✔ Architecture diagrams and stretch goal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1: WHAT YOU BUILT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The Pass: Single-User Restaurant Order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Core Capabilities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Order Ingestion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Adds food to kitchen or drink to bar with auto-assigned unique sequential IDs.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Arrival Ordering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Preserves exact FIFO sequence across both production queues independently.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Dispatch &amp; Logging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Completes oldest entry into shared sent-out log; cancels entries without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Defensive Validations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Table Number Checks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Ensures positive integers; isolates errors to avoid queue corruption.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Menu Classification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Normalizes input; rejects non-menu or cross-category items with helpful re-prompts.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ID Range Protection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Detects Integer.MAX_VALUE and exhausts safely to prevent ID reuse.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Presentation &amp; Inspection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Live Queue Views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Kitchen and bar views display item position, ID, table, and elapsed whole minutes.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Table-Specific Views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Parallel side-by-side columns show pending food and drinks for any table.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Sent-Out History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Permanent record of completed items in chronological completion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1: WHAT YOU BUILT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Generic LinkedChain Reuse &amp; Architectural Separation</a:t>
            </a:r>
          </a:p>
        </p:txBody>
      </p:sp>
      <p:pic>
        <p:nvPicPr>
          <p:cNvPr id="4" name="Picture 3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Generic Contract &amp; Layering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3 LinkedChain Instances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OrderManager holds kitchen (FoodOrder), bar (DrinkOrder), and sentOut (Order). One generic structure reused for 3 distinct type arguments.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Strict Public API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Uses only addToEnd, remove, get, size, and toArray. Zero application code accesses nodes or next pointers.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No Domain Infiltration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LinkedChain knows nothing about tables, food, or restaurant status; pure container with universal Object.equals comparison.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Polymorphic Log</a:t>
            </a:r>
          </a:p>
          <a:p>
            <a:pPr>
              <a:spcAft>
                <a:spcPts val="8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sentOut: LinkedChain&lt;Order&gt; accepts both FoodOrder and DrinkOrder subtypes without type-casts.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1: WHAT YOU BUILT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Evolution from Spec &amp; Stretch Goal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Evolution: Deliverable 2 Spec  →  Deliverable 3 Prototype  →  Final Build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LinkedChain Contract: Spec proposed modifying chain with tail pointer and removeFirst(). In Prototype &amp; Final, we proved the unedited staff LinkedChain was sufficient using addToEnd and remove.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Centralized Menu: Prototype duplicated strings in ConsoleApp. Final centralized all display strings in Menu.displayFood() and Menu.displayDrinks().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Testing Harness: Spec proposed generic test plans. Final completed 104 unit tests under student.TestCase with 100% method coverage.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1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861F41"/>
                </a:solidFill>
                <a:latin typeface="Segoe UI"/>
              </a:defRPr>
            </a:pPr>
            <a:r>
              <a:t>Stretch Goal Implemented: Item Customizations &amp; Special Instructions [EXCEEDS]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Data Structure Extension: Added immutable instructions field and hasInstructions() to Order, FoodOrder, and DrinkOrder.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Backward Compatibility: Preserved existing 4-parameter constructors; added 5-parameter overloads across all order types.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Input Validation: Null values safely default to empty string; leading/trailing whitespace trimmed; rejects &gt; 100 characters.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Multi-View Integration: Seamlessly appears in parentheses across kitchen/bar queues, table views, and sent-out history.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Test Verification: Tested normal notes ('no onions'), empty/null notes, and boundary rejections in OrderTest, FoodOrderTest, and OrderManagerTest.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2: DEMO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Demonstration Protocol &amp; Execution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61F41"/>
                </a:solidFill>
                <a:latin typeface="Segoe UI"/>
              </a:defRPr>
            </a:pPr>
            <a:r>
              <a:t>DEMO 1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Step 1: Ingestion &amp; Customization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Add food to Table 4 (burger, 'no onions') and drink to Table 4 (lemonade, 'extra ice').</a:t>
            </a:r>
            <a:br/>
            <a:r>
              <a:t>Shows MVP creation and stretch goal customization working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61F41"/>
                </a:solidFill>
                <a:latin typeface="Segoe UI"/>
              </a:defRPr>
            </a:pPr>
            <a:r>
              <a:t>DEMO 2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Step 2: Generic Queue Reuse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Command 3 (View kitchen) and Command 4 (View bar).</a:t>
            </a:r>
            <a:br/>
            <a:r>
              <a:t>Demonstrates two distinct element types (FoodOrder &amp; DrinkOrder) stored in separate LinkedChain 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14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61F41"/>
                </a:solidFill>
                <a:latin typeface="Segoe UI"/>
              </a:defRPr>
            </a:pPr>
            <a:r>
              <a:t>DEMO 3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Step 3: Bad-Input Resilience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Enter invalid table ('abc' and '-3'), invalid item ('pizza'), and out-of-bounds cancel position ('99').</a:t>
            </a:r>
            <a:br/>
            <a:r>
              <a:t>Proves application recovers gracefully without crashing.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14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61F41"/>
                </a:solidFill>
                <a:latin typeface="Segoe UI"/>
              </a:defRPr>
            </a:pPr>
            <a:r>
              <a:t>DEMO 4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Step 4: Dispatch &amp; Sent-Out Log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Complete oldest food and drink (Commands 5 &amp; 6) and inspect Command 10 (View sent-out log).</a:t>
            </a:r>
            <a:br/>
            <a:r>
              <a:t>Demonstrates FIFO order dispatch and polymorphic LinkedChain&lt;Order&gt; logging.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3: WHAT WENT WELL AND WHAT DIDN'T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Engineering Insights &amp; Project Retrospective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What Went Well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Clean Responsibility Layering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ConsoleApp manages I/O, OrderManager coordinates workflows, and Menu encapsulates classification. OrderManager is 100% testable without console mocks.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ID Invariance &amp; Equality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Order.equals based strictly on orderId ensures duplicate orders (e.g., two burgers for table 4) can be canceled or removed independently.</a:t>
            </a:r>
          </a:p>
          <a:p>
            <a:pPr>
              <a:defRPr sz="1300" b="1">
                <a:solidFill>
                  <a:srgbClr val="861F41"/>
                </a:solidFill>
                <a:latin typeface="Segoe UI"/>
              </a:defRPr>
            </a:pPr>
            <a:r>
              <a:t>104 Passing Tests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Comprehensive test coverage across all 7 test classes gives complete confidence in edge-case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Challenges &amp; Specific Bugs Overcome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The LIFO vs. FIFO Starter Bug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LinkedChain.add inserts at the head (LIFO). In early testing, newest orders completed first! We resolved this by standardizing on addToEnd() to preserve FIFO arrival sequence.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JUnit 5 Framework Collision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GenAI initially drafted OrderTest with JUnit 5 (@Test, assertThrows). The course CS2-Support setup required JUnit 4 / student.TestCase. The team manually refactored the suite.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Scanner Token Buffering</a:t>
            </a:r>
          </a:p>
          <a:p>
            <a:pPr>
              <a:spcAft>
                <a:spcPts val="1000"/>
              </a:spcAft>
              <a:defRPr sz="1150">
                <a:solidFill>
                  <a:srgbClr val="64748B"/>
                </a:solidFill>
                <a:latin typeface="Segoe UI"/>
              </a:defRPr>
            </a:pPr>
            <a:r>
              <a:t>Entering an invalid item left pending newlines in the input stream, skipping prompts. Fixed by standardizing on readLine() across all console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3: WHAT WENT WELL AND WHAT DIDN'T (~2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Evolving Definitions: Reuse &amp; Generics (Week 6 vs. Week 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64748B"/>
                </a:solidFill>
                <a:latin typeface="Segoe UI"/>
              </a:defRPr>
            </a:pPr>
            <a:r>
              <a:t>Week 6 Understanding: Baseline</a:t>
            </a:r>
          </a:p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Generics as Type Syntax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Viewed generics simply as a way to avoid cast operations like (String) list.get(0). Did not appreciate generic contracts.</a:t>
            </a:r>
          </a:p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Reuse via Inheritance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Defaulted to deep inheritance trees or copy-pasting code structures to handle different data types.</a:t>
            </a:r>
          </a:p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Coupled Data Structures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Temptation to add domain methods (e.g., getOrderByTable()) directly inside the linked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1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861F41"/>
                </a:solidFill>
                <a:latin typeface="Segoe UI"/>
              </a:defRPr>
            </a:pPr>
            <a:r>
              <a:t>Week 9 Understanding: The Pass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Contract-Driven Generics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Generics define domain-agnostic contracts. An unbounded LinkedChain&lt;T&gt; safely holds FoodOrder, DrinkOrder, and Order using only Object contracts.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Composition Over Modification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True reuse means using the container through its public interface without altering node mechanics or internals.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Polymorphic Storage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A LinkedChain&lt;Order&gt; seamlessly manages completed items from both queues, combining generics and subtype polymorphism.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4: ETHICS REFLECTION ON GENAI (~3-4 MIN) [CRITICAL]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Ethics Reflection: Delegation vs.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What We Delegated to GenAI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Boilerplate Skeletons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Initial class headers, standard getter methods, and repetitive equals/hashCode implementations.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Formatting Ideation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Initial suggestions for aligning multi-column text in viewTable().</a:t>
            </a:r>
          </a:p>
          <a:p>
            <a:pPr>
              <a:defRPr sz="1300" b="1">
                <a:solidFill>
                  <a:srgbClr val="E87722"/>
                </a:solidFill>
                <a:latin typeface="Segoe UI"/>
              </a:defRPr>
            </a:pPr>
            <a:r>
              <a:t>Test Skeletons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Drafting repetitive test assertion methods for boundary values across positive/negative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1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861F41"/>
                </a:solidFill>
                <a:latin typeface="Segoe UI"/>
              </a:defRPr>
            </a:pPr>
            <a:r>
              <a:t>What the Team Verified &amp; Corrected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Framework Compatibility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Replaced incompatible JUnit 5 annotations and lambda assertThrows with student.TestCase try-catch assertions.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Invariant Enforcement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Enforced that LinkedChain is never modified to fit restaurant needs; guaranteed node encapsulation.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Execution on Course Tooling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Compiled and ran all 104 tests against student.jar on Java 20 with security manager flags.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Algorithmic Correctness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Audited addToEnd vs add to ensure FIFO delivery sequence was preserved.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4: ETHICS REFLECTION ON GENAI (~3-4 MIN) [EXCEEDS]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Concrete Evidence: Prompt, AI Output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Actual Prompt Submitted to GenAI:</a:t>
            </a:r>
          </a:p>
          <a:p>
            <a:pPr>
              <a:defRPr sz="1300" b="1">
                <a:solidFill>
                  <a:srgbClr val="1E293B"/>
                </a:solidFill>
                <a:latin typeface="Consolas"/>
              </a:defRPr>
            </a:pPr>
            <a:r>
              <a:t>"Write a JUnit test for Order that verifies invalid wait time throws an IllegalArgumentException."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Raw GenAI Output Received (Flawed):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@Test</a:t>
            </a:r>
            <a:br/>
            <a:r>
              <a:t>void testInvalidWait() {</a:t>
            </a:r>
            <a:br/>
            <a:r>
              <a:t>    Order order = new TestOrder(1, 1, "Burger", 1000L);</a:t>
            </a:r>
            <a:br/>
            <a:r>
              <a:t>    assertThrows(IllegalArgumentException.class,</a:t>
            </a:r>
            <a:br/>
            <a:r>
              <a:t>        () -&gt; order.getWaitMinutes(999L));</a:t>
            </a:r>
            <a:br/>
            <a:r>
              <a:t>}</a:t>
            </a:r>
          </a:p>
          <a:p>
            <a:pPr>
              <a:defRPr sz="1100" b="1">
                <a:solidFill>
                  <a:srgbClr val="B42828"/>
                </a:solidFill>
                <a:latin typeface="Segoe UI"/>
              </a:defRPr>
            </a:pPr>
            <a:r>
              <a:t>❌ FLAW IDENTIFIED: Used JUnit 5 Jupiter (@Test package-private, assertThrows with lambda). Incompatible with Virginia Tech CS2-Support / JUnit 4 test runner.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52120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1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861F41"/>
                </a:solidFill>
                <a:latin typeface="Segoe UI"/>
              </a:defRPr>
            </a:pPr>
            <a:r>
              <a:t>Team Verified &amp; Hand-Corrected Code: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Consolas"/>
              </a:defRPr>
            </a:pPr>
            <a:r>
              <a:t>public void testInvalidWait() {</a:t>
            </a:r>
            <a:br/>
            <a:r>
              <a:t>    Order order = new ConcreteOrder(1, 1, "Burger", 1000L);</a:t>
            </a:r>
            <a:br/>
            <a:r>
              <a:t>    try {</a:t>
            </a:r>
            <a:br/>
            <a:r>
              <a:t>        order.getWaitMinutes(999L);</a:t>
            </a:r>
            <a:br/>
            <a:r>
              <a:t>        fail("Expected IllegalArgumentException");</a:t>
            </a:r>
            <a:br/>
            <a:r>
              <a:t>    } catch (IllegalArgumentException e) {</a:t>
            </a:r>
            <a:br/>
            <a:r>
              <a:t>        assertNotNull(e);</a:t>
            </a:r>
            <a:br/>
            <a:r>
              <a:t>    }</a:t>
            </a:r>
            <a:br/>
            <a:r>
              <a:t>}</a:t>
            </a:r>
          </a:p>
          <a:p>
            <a:pPr>
              <a:defRPr sz="1100" b="1">
                <a:solidFill>
                  <a:srgbClr val="28A745"/>
                </a:solidFill>
                <a:latin typeface="Segoe UI"/>
              </a:defRPr>
            </a:pPr>
            <a:r>
              <a:t>✔ TEAM CORRECTION: Extended student.TestCase, used public void naming convention, explicit try-catch-fail idiom, and verified on Eclipse JUnit runner.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PART 4: ETHICS REFLECTION ON GENAI (~3-4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Risks of Over-Reliance &amp; Future Engineering Commitments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Where Over-Reliance Could Hurt Learning</a:t>
            </a:r>
          </a:p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Loss of Pointer Tracing Mastery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Relying on AI to generate linked structures bypasses the crucial cognitive process of tracing head, tail, and next node reference assignments on paper.</a:t>
            </a:r>
          </a:p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Illusion of Correctness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Code can compile and look elegant while subtly violating business invariants (e.g., LIFO instead of FIFO, or breaking encapsulation by leaking nodes).</a:t>
            </a:r>
          </a:p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Teammate Skill Disparity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If one teammate delegates implementation entirely to AI without consensus, other teammates cannot defend the codebase during live lab grading.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61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861F41"/>
                </a:solidFill>
                <a:latin typeface="Segoe UI"/>
              </a:defRPr>
            </a:pPr>
            <a:r>
              <a:t>What We Will Do Differently Next Time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Manual Specification Before Generation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Draft comprehensive method signatures, invariants, and test plans by hand before writing or consulting any automated tool.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Strict 'Verify First' Protocol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No code enters the repository without line-by-line manual code review and local execution on the official course classpath.</a:t>
            </a:r>
          </a:p>
          <a:p>
            <a:pPr>
              <a:defRPr sz="1300" b="1">
                <a:solidFill>
                  <a:srgbClr val="1E293B"/>
                </a:solidFill>
                <a:latin typeface="Segoe UI"/>
              </a:defRPr>
            </a:pPr>
            <a:r>
              <a:t>Pair Programming &amp; Active Defense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Every teammate must be able to trace and defend any class live in lab, ensuring balanced learning and complete ownership.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61F41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Summary &amp; Open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409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The Pass: Summary of Achievements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✔ Working, defensible MVP with clean CLI layer, domain manager, and data models.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✔ True generic reuse: LinkedChain&lt;T&gt; unchanged and reused for FoodOrder, DrinkOrder, and Order.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✔ Stretch Goal achieved: Item customizations and special instructions fully functional and tested.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✔ Robust resilience: Recovers gracefully from all bad inputs; 104 passing JUnit tests.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✔ Public GitHub repository with comprehensive README, attribution table, and run instructions.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861F41"/>
                </a:solidFill>
                <a:latin typeface="Consolas"/>
              </a:defRPr>
            </a:pPr>
            <a:r>
              <a:t>Repository: https://github.com/Talal288/cs2114-project2-group84</a:t>
            </a:r>
          </a:p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Thank you!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